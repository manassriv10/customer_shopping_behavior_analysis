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Slab" charset="1" panose="00000000000000000000"/>
      <p:regular r:id="rId19"/>
    </p:embeddedFont>
    <p:embeddedFont>
      <p:font typeface="Roboto" charset="1" panose="02000000000000000000"/>
      <p:regular r:id="rId20"/>
    </p:embeddedFont>
    <p:embeddedFont>
      <p:font typeface="Roboto Bold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335836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Customer Shopping Behavior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466312"/>
            <a:ext cx="944552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Uncovering insights from 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3,900 transactions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across product categories to guide strategic business decisions on spending patterns, customer segments, and subscription behavior.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93581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Dataset 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59716"/>
            <a:ext cx="7974511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3,900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7391" y="389721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Transactions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424515"/>
            <a:ext cx="79745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Rows in the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1108" y="2759716"/>
            <a:ext cx="7974654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36413" y="389721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Columns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4424515"/>
            <a:ext cx="797465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Features tracked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824985"/>
            <a:ext cx="7974511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$59.76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07391" y="696248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Avg Purchase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489774"/>
            <a:ext cx="79745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Average spend per order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1108" y="5824985"/>
            <a:ext cx="7974654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37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36413" y="696248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Missing Values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7489774"/>
            <a:ext cx="797465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 Review Rating column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8262337"/>
            <a:ext cx="16303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Key features include customer demographics (Age, Gender, Location, Subscription Status), purchase details (Item, Category, Amount, Season), and shopping behavior (Discount, Promo Code, Frequency, Review Rating).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6760" y="780898"/>
            <a:ext cx="9866414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Data Preparation in Python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8660" y="2093709"/>
            <a:ext cx="9514580" cy="2120951"/>
          </a:xfrm>
          <a:custGeom>
            <a:avLst/>
            <a:gdLst/>
            <a:ahLst/>
            <a:cxnLst/>
            <a:rect r="r" b="b" t="t" l="l"/>
            <a:pathLst>
              <a:path h="2120951" w="9514580">
                <a:moveTo>
                  <a:pt x="0" y="0"/>
                </a:moveTo>
                <a:lnTo>
                  <a:pt x="9514580" y="0"/>
                </a:lnTo>
                <a:lnTo>
                  <a:pt x="9514580" y="2120951"/>
                </a:lnTo>
                <a:lnTo>
                  <a:pt x="0" y="2120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9" r="0" b="-6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08214" y="2401338"/>
            <a:ext cx="3488684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Cleaning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8214" y="2925966"/>
            <a:ext cx="872787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Imputed missing Review Rating values using median by product category. Renamed columns to snake_case for consistency.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8660" y="4489399"/>
            <a:ext cx="9514580" cy="2592438"/>
          </a:xfrm>
          <a:custGeom>
            <a:avLst/>
            <a:gdLst/>
            <a:ahLst/>
            <a:cxnLst/>
            <a:rect r="r" b="b" t="t" l="l"/>
            <a:pathLst>
              <a:path h="2592438" w="9514580">
                <a:moveTo>
                  <a:pt x="0" y="0"/>
                </a:moveTo>
                <a:lnTo>
                  <a:pt x="9514580" y="0"/>
                </a:lnTo>
                <a:lnTo>
                  <a:pt x="9514580" y="2592439"/>
                </a:lnTo>
                <a:lnTo>
                  <a:pt x="0" y="2592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7" r="0" b="-14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8214" y="4797028"/>
            <a:ext cx="3488684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Feature Engineering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8214" y="5321646"/>
            <a:ext cx="8727872" cy="1443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Created age_group by binning customer ages and purchase_frequency_days from purchase data. Dropped redundant promo_code_used column.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8660" y="7356577"/>
            <a:ext cx="9514580" cy="2120951"/>
          </a:xfrm>
          <a:custGeom>
            <a:avLst/>
            <a:gdLst/>
            <a:ahLst/>
            <a:cxnLst/>
            <a:rect r="r" b="b" t="t" l="l"/>
            <a:pathLst>
              <a:path h="2120951" w="9514580">
                <a:moveTo>
                  <a:pt x="0" y="0"/>
                </a:moveTo>
                <a:lnTo>
                  <a:pt x="9514580" y="0"/>
                </a:lnTo>
                <a:lnTo>
                  <a:pt x="9514580" y="2120950"/>
                </a:lnTo>
                <a:lnTo>
                  <a:pt x="0" y="21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9" r="0" b="-6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08214" y="7664206"/>
            <a:ext cx="3488684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Database Integration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8214" y="8188823"/>
            <a:ext cx="872787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Connected Python to PostgreSQL and loaded the cleaned DataFrame for SQL-based analysis.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30966"/>
            <a:ext cx="1313571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Revenue by Gender &amp; Discount Users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989659"/>
            <a:ext cx="7805890" cy="5618712"/>
            <a:chOff x="0" y="0"/>
            <a:chExt cx="10407853" cy="749161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07904" cy="7491603"/>
            </a:xfrm>
            <a:custGeom>
              <a:avLst/>
              <a:gdLst/>
              <a:ahLst/>
              <a:cxnLst/>
              <a:rect r="r" b="b" t="t" l="l"/>
              <a:pathLst>
                <a:path h="7491603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1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99406" y="2944711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Key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406" y="3585420"/>
            <a:ext cx="7805890" cy="261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Male customers generated 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more than double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the revenue of female customers ($157,890 vs. $75,191).</a:t>
            </a:r>
          </a:p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839 customers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used discounts and still spent above the average purchase amount — indicating strong deal-seeker conversion potential.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05077"/>
            <a:ext cx="1202591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Top Products &amp; Shipping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18812"/>
            <a:ext cx="506745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Top 5 Products by Rating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3685432"/>
            <a:ext cx="7815415" cy="4953600"/>
            <a:chOff x="0" y="0"/>
            <a:chExt cx="10420553" cy="6604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0476" cy="6604762"/>
            </a:xfrm>
            <a:custGeom>
              <a:avLst/>
              <a:gdLst/>
              <a:ahLst/>
              <a:cxnLst/>
              <a:rect r="r" b="b" t="t" l="l"/>
              <a:pathLst>
                <a:path h="6604762" w="1042047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363708" y="0"/>
                  </a:lnTo>
                  <a:cubicBezTo>
                    <a:pt x="10395076" y="0"/>
                    <a:pt x="10420476" y="25400"/>
                    <a:pt x="10420476" y="56769"/>
                  </a:cubicBezTo>
                  <a:lnTo>
                    <a:pt x="10420476" y="6547993"/>
                  </a:lnTo>
                  <a:cubicBezTo>
                    <a:pt x="10420476" y="6579362"/>
                    <a:pt x="10395076" y="6604762"/>
                    <a:pt x="10363708" y="6604762"/>
                  </a:cubicBezTo>
                  <a:lnTo>
                    <a:pt x="56769" y="6604762"/>
                  </a:lnTo>
                  <a:cubicBezTo>
                    <a:pt x="25400" y="6604762"/>
                    <a:pt x="0" y="6579362"/>
                    <a:pt x="0" y="654799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322" t="0" r="-31322" b="0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427" y="3784102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Product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83534" y="3784102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Avg Rating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427" y="4606528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Gloves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83534" y="4606528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3.86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427" y="5428955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Sandals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83534" y="5428955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3.84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427" y="6251372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Boots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83534" y="6251372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3.82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427" y="7073798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Hat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83534" y="7073798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3.80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427" y="7896225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Skirt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3534" y="7896225"/>
            <a:ext cx="42359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3.78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9406" y="2918812"/>
            <a:ext cx="545693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Shipping Type Comparison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99406" y="3559521"/>
            <a:ext cx="780589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Express shipping customers spend slightly more on average (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$60.48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) vs. Standard (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$58.46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99406" y="4836023"/>
            <a:ext cx="588705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Discount-Dependent Products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9406" y="5476723"/>
            <a:ext cx="7805890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Hat (50%), Sneakers (49.66%), Coat (49.07%), Sweater (48.17%), and Pants (47.37%) have the highest discount rates — review policy to balance sales with margins.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617164"/>
            <a:ext cx="896778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Customer Segmentation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2956922"/>
            <a:ext cx="4580934" cy="2540946"/>
            <a:chOff x="0" y="0"/>
            <a:chExt cx="6107913" cy="3387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07938" cy="3387979"/>
            </a:xfrm>
            <a:custGeom>
              <a:avLst/>
              <a:gdLst/>
              <a:ahLst/>
              <a:cxnLst/>
              <a:rect r="r" b="b" t="t" l="l"/>
              <a:pathLst>
                <a:path h="3387979" w="610793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169" y="0"/>
                  </a:lnTo>
                  <a:cubicBezTo>
                    <a:pt x="6082538" y="0"/>
                    <a:pt x="6107938" y="25400"/>
                    <a:pt x="6107938" y="56769"/>
                  </a:cubicBezTo>
                  <a:lnTo>
                    <a:pt x="6107938" y="3331210"/>
                  </a:lnTo>
                  <a:cubicBezTo>
                    <a:pt x="6107938" y="3362579"/>
                    <a:pt x="6082538" y="3387979"/>
                    <a:pt x="6051169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5750" y="323090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Loyal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750" y="3758213"/>
            <a:ext cx="4013892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3,116 customers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the dominant segment with repeat purchase history.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56684" y="2956922"/>
            <a:ext cx="4581077" cy="2540946"/>
            <a:chOff x="0" y="0"/>
            <a:chExt cx="6108103" cy="3387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8192" cy="3387979"/>
            </a:xfrm>
            <a:custGeom>
              <a:avLst/>
              <a:gdLst/>
              <a:ahLst/>
              <a:cxnLst/>
              <a:rect r="r" b="b" t="t" l="l"/>
              <a:pathLst>
                <a:path h="3387979" w="6108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423" y="0"/>
                  </a:lnTo>
                  <a:cubicBezTo>
                    <a:pt x="6082792" y="0"/>
                    <a:pt x="6108192" y="25400"/>
                    <a:pt x="6108192" y="56769"/>
                  </a:cubicBezTo>
                  <a:lnTo>
                    <a:pt x="6108192" y="3331210"/>
                  </a:lnTo>
                  <a:cubicBezTo>
                    <a:pt x="6108192" y="3362579"/>
                    <a:pt x="6082792" y="3387979"/>
                    <a:pt x="6051423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40206" y="323090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Returning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0206" y="3758213"/>
            <a:ext cx="4014045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701 customers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have purchased before but not yet in the loyal tier.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5781380"/>
            <a:ext cx="9445523" cy="1633690"/>
            <a:chOff x="0" y="0"/>
            <a:chExt cx="12594031" cy="21782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93955" cy="2178177"/>
            </a:xfrm>
            <a:custGeom>
              <a:avLst/>
              <a:gdLst/>
              <a:ahLst/>
              <a:cxnLst/>
              <a:rect r="r" b="b" t="t" l="l"/>
              <a:pathLst>
                <a:path h="2178177" w="1259395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2121535"/>
                  </a:lnTo>
                  <a:cubicBezTo>
                    <a:pt x="12593955" y="2152904"/>
                    <a:pt x="12568555" y="2178177"/>
                    <a:pt x="1253731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75750" y="605536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New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5750" y="6582670"/>
            <a:ext cx="887849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83 customers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first-time buyers with growth potential.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7638755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Of customers with more than 5 purchases, 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958 are subscribers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vs. 2,518 non-subscribers — repeat buyers show meaningful subscription affinity.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30966"/>
            <a:ext cx="8379619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Revenue by Age Group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989659"/>
            <a:ext cx="7805890" cy="5618712"/>
            <a:chOff x="0" y="0"/>
            <a:chExt cx="10407853" cy="749161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07904" cy="7491603"/>
            </a:xfrm>
            <a:custGeom>
              <a:avLst/>
              <a:gdLst/>
              <a:ahLst/>
              <a:cxnLst/>
              <a:rect r="r" b="b" t="t" l="l"/>
              <a:pathLst>
                <a:path h="7491603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1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99406" y="2944711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Age Group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406" y="3585420"/>
            <a:ext cx="7805890" cy="352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Young Adults lead in revenue contribution at 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$62,143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followed closely by Middle-aged ($59,197), Adult ($55,978), and Senior ($55,763).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Revenue is relatively evenly distributed across age groups, suggesting broad market appeal. Targeted marketing should focus on high-revenue age groups and express-shipping users.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30966"/>
            <a:ext cx="8318306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Subscription Behavior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989659"/>
            <a:ext cx="7805890" cy="5618712"/>
            <a:chOff x="0" y="0"/>
            <a:chExt cx="10407853" cy="749161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07904" cy="7491603"/>
            </a:xfrm>
            <a:custGeom>
              <a:avLst/>
              <a:gdLst/>
              <a:ahLst/>
              <a:cxnLst/>
              <a:rect r="r" b="b" t="t" l="l"/>
              <a:pathLst>
                <a:path h="7491603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1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99406" y="2944711"/>
            <a:ext cx="631016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Subscribers vs. Non-Subscribers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94634" y="3711331"/>
            <a:ext cx="7815415" cy="2939948"/>
            <a:chOff x="0" y="0"/>
            <a:chExt cx="10420553" cy="39199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20603" cy="3919982"/>
            </a:xfrm>
            <a:custGeom>
              <a:avLst/>
              <a:gdLst/>
              <a:ahLst/>
              <a:cxnLst/>
              <a:rect r="r" b="b" t="t" l="l"/>
              <a:pathLst>
                <a:path h="3919982" w="10420603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0363708" y="0"/>
                  </a:lnTo>
                  <a:cubicBezTo>
                    <a:pt x="10395076" y="0"/>
                    <a:pt x="10420603" y="25527"/>
                    <a:pt x="10420603" y="56896"/>
                  </a:cubicBezTo>
                  <a:lnTo>
                    <a:pt x="10420603" y="3863086"/>
                  </a:lnTo>
                  <a:cubicBezTo>
                    <a:pt x="10420603" y="3894455"/>
                    <a:pt x="10395076" y="3919982"/>
                    <a:pt x="10363708" y="3919982"/>
                  </a:cubicBezTo>
                  <a:lnTo>
                    <a:pt x="56896" y="3919982"/>
                  </a:lnTo>
                  <a:cubicBezTo>
                    <a:pt x="25527" y="3919982"/>
                    <a:pt x="0" y="3894455"/>
                    <a:pt x="0" y="386308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8" r="0" b="-1796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792595" y="3810000"/>
            <a:ext cx="228927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Status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4030" y="3810000"/>
            <a:ext cx="137011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Customers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90702" y="3810000"/>
            <a:ext cx="228451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Avg Spend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37373" y="3810000"/>
            <a:ext cx="137487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Total Revenue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2595" y="5086055"/>
            <a:ext cx="228927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44030" y="5086055"/>
            <a:ext cx="228451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1,053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90702" y="5086055"/>
            <a:ext cx="228451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$59.49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37373" y="5086055"/>
            <a:ext cx="228927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$62,645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92595" y="5908472"/>
            <a:ext cx="228927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44030" y="5908472"/>
            <a:ext cx="228451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2,847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90702" y="5908472"/>
            <a:ext cx="228451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$59.87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637373" y="5908472"/>
            <a:ext cx="228927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$170,436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99406" y="6870202"/>
            <a:ext cx="7805890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Subscribers make up only </a:t>
            </a:r>
            <a:r>
              <a:rPr lang="en-US" sz="220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27%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of customers but represent a high-value segment. Promoting exclusive subscriber benefits could grow this base significantly.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8261" y="755894"/>
            <a:ext cx="7116661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Power BI Dashboard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8261" y="1974656"/>
            <a:ext cx="10327481" cy="5544741"/>
            <a:chOff x="0" y="0"/>
            <a:chExt cx="13769975" cy="739298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769975" cy="7392924"/>
            </a:xfrm>
            <a:custGeom>
              <a:avLst/>
              <a:gdLst/>
              <a:ahLst/>
              <a:cxnLst/>
              <a:rect r="r" b="b" t="t" l="l"/>
              <a:pathLst>
                <a:path h="7392924" w="13769975">
                  <a:moveTo>
                    <a:pt x="0" y="0"/>
                  </a:moveTo>
                  <a:lnTo>
                    <a:pt x="13769975" y="0"/>
                  </a:lnTo>
                  <a:lnTo>
                    <a:pt x="13769975" y="7392924"/>
                  </a:lnTo>
                  <a:lnTo>
                    <a:pt x="0" y="7392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8261" y="7763466"/>
            <a:ext cx="8167240" cy="1757963"/>
            <a:chOff x="0" y="0"/>
            <a:chExt cx="10889653" cy="2343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89742" cy="2344039"/>
            </a:xfrm>
            <a:custGeom>
              <a:avLst/>
              <a:gdLst/>
              <a:ahLst/>
              <a:cxnLst/>
              <a:rect r="r" b="b" t="t" l="l"/>
              <a:pathLst>
                <a:path h="2344039" w="1088974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840085" y="0"/>
                  </a:lnTo>
                  <a:cubicBezTo>
                    <a:pt x="10867517" y="0"/>
                    <a:pt x="10889742" y="22225"/>
                    <a:pt x="10889742" y="49657"/>
                  </a:cubicBezTo>
                  <a:lnTo>
                    <a:pt x="10889742" y="2294382"/>
                  </a:lnTo>
                  <a:cubicBezTo>
                    <a:pt x="10889742" y="2321814"/>
                    <a:pt x="10867517" y="2344039"/>
                    <a:pt x="10840085" y="2344039"/>
                  </a:cubicBezTo>
                  <a:lnTo>
                    <a:pt x="49657" y="2344039"/>
                  </a:lnTo>
                  <a:cubicBezTo>
                    <a:pt x="22225" y="2344039"/>
                    <a:pt x="0" y="2321814"/>
                    <a:pt x="0" y="2294382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16206" y="8011420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Key Metrics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6206" y="8462667"/>
            <a:ext cx="7671349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3.9K Customers · $59.76 Avg Purchase · 3.75 Avg Rating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2499" y="7763466"/>
            <a:ext cx="8167240" cy="1757963"/>
            <a:chOff x="0" y="0"/>
            <a:chExt cx="10889653" cy="2343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89742" cy="2344039"/>
            </a:xfrm>
            <a:custGeom>
              <a:avLst/>
              <a:gdLst/>
              <a:ahLst/>
              <a:cxnLst/>
              <a:rect r="r" b="b" t="t" l="l"/>
              <a:pathLst>
                <a:path h="2344039" w="1088974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840085" y="0"/>
                  </a:lnTo>
                  <a:cubicBezTo>
                    <a:pt x="10867517" y="0"/>
                    <a:pt x="10889742" y="22225"/>
                    <a:pt x="10889742" y="49657"/>
                  </a:cubicBezTo>
                  <a:lnTo>
                    <a:pt x="10889742" y="2294382"/>
                  </a:lnTo>
                  <a:cubicBezTo>
                    <a:pt x="10889742" y="2321814"/>
                    <a:pt x="10867517" y="2344039"/>
                    <a:pt x="10840085" y="2344039"/>
                  </a:cubicBezTo>
                  <a:lnTo>
                    <a:pt x="49657" y="2344039"/>
                  </a:lnTo>
                  <a:cubicBezTo>
                    <a:pt x="22225" y="2344039"/>
                    <a:pt x="0" y="2321814"/>
                    <a:pt x="0" y="2294382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500445" y="8011420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Visualizations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00445" y="8462667"/>
            <a:ext cx="7671349" cy="810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Revenue &amp; Sales by Category and Age Group, Subscription donut chart, interactive filters for Gender, Category, and Shipping Type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1282" y="780307"/>
            <a:ext cx="10112426" cy="88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Business Recommendations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64266" y="2074659"/>
            <a:ext cx="411956" cy="411956"/>
          </a:xfrm>
          <a:custGeom>
            <a:avLst/>
            <a:gdLst/>
            <a:ahLst/>
            <a:cxnLst/>
            <a:rect r="r" b="b" t="t" l="l"/>
            <a:pathLst>
              <a:path h="411956" w="411956">
                <a:moveTo>
                  <a:pt x="0" y="0"/>
                </a:moveTo>
                <a:lnTo>
                  <a:pt x="411957" y="0"/>
                </a:lnTo>
                <a:lnTo>
                  <a:pt x="411957" y="411957"/>
                </a:lnTo>
                <a:lnTo>
                  <a:pt x="0" y="411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3" t="0" r="-795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53803" y="2056657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Boost Subscriptions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53803" y="2569073"/>
            <a:ext cx="8614915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Promote exclusive benefits to convert non-subscribers and grow the 27% subscriber base.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64266" y="4060622"/>
            <a:ext cx="411956" cy="411956"/>
          </a:xfrm>
          <a:custGeom>
            <a:avLst/>
            <a:gdLst/>
            <a:ahLst/>
            <a:cxnLst/>
            <a:rect r="r" b="b" t="t" l="l"/>
            <a:pathLst>
              <a:path h="411956" w="411956">
                <a:moveTo>
                  <a:pt x="0" y="0"/>
                </a:moveTo>
                <a:lnTo>
                  <a:pt x="411957" y="0"/>
                </a:lnTo>
                <a:lnTo>
                  <a:pt x="411957" y="411956"/>
                </a:lnTo>
                <a:lnTo>
                  <a:pt x="0" y="411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3" t="0" r="-795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53803" y="4042620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Loyalty Programs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53803" y="4555036"/>
            <a:ext cx="8614915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Reward repeat buyers to move Returning customers (701) into the Loyal segment (3,116).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64266" y="6046594"/>
            <a:ext cx="411956" cy="411956"/>
          </a:xfrm>
          <a:custGeom>
            <a:avLst/>
            <a:gdLst/>
            <a:ahLst/>
            <a:cxnLst/>
            <a:rect r="r" b="b" t="t" l="l"/>
            <a:pathLst>
              <a:path h="411956" w="411956">
                <a:moveTo>
                  <a:pt x="0" y="0"/>
                </a:moveTo>
                <a:lnTo>
                  <a:pt x="411957" y="0"/>
                </a:lnTo>
                <a:lnTo>
                  <a:pt x="411957" y="411956"/>
                </a:lnTo>
                <a:lnTo>
                  <a:pt x="0" y="411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3" t="0" r="-7956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53803" y="6028582"/>
            <a:ext cx="3795417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Review Discount Policy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53803" y="6540998"/>
            <a:ext cx="8614915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Balance sales boosts with margin control, especially for high-discount products like Hat and Sneakers.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064266" y="8032556"/>
            <a:ext cx="411956" cy="411956"/>
          </a:xfrm>
          <a:custGeom>
            <a:avLst/>
            <a:gdLst/>
            <a:ahLst/>
            <a:cxnLst/>
            <a:rect r="r" b="b" t="t" l="l"/>
            <a:pathLst>
              <a:path h="411956" w="411956">
                <a:moveTo>
                  <a:pt x="0" y="0"/>
                </a:moveTo>
                <a:lnTo>
                  <a:pt x="411957" y="0"/>
                </a:lnTo>
                <a:lnTo>
                  <a:pt x="411957" y="411957"/>
                </a:lnTo>
                <a:lnTo>
                  <a:pt x="0" y="411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3" t="0" r="-7956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53803" y="8014545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Targeted Marketing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53803" y="8526961"/>
            <a:ext cx="8614915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Focus campaigns on high-revenue age groups, express-shipping users, and top-rated products.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DAHLuGst_8A</dc:identifier>
  <dcterms:modified xsi:type="dcterms:W3CDTF">2011-08-01T06:04:30Z</dcterms:modified>
  <cp:revision>1</cp:revision>
  <dc:title>Customer-Shopping-Behavior-Analysis.pptx</dc:title>
</cp:coreProperties>
</file>